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8924967-a67b-3bad-2e25-7f8882191a8c}">
          <p14:sldIdLst>
            <p14:sldId id="256"/>
          </p14:sldIdLst>
        </p14:section>
        <p14:section name="Overview" id="{136f0caf-447b-00f0-fe94-2c2af75c0d2d}">
          <p14:sldIdLst>
            <p14:sldId id="257"/>
          </p14:sldIdLst>
        </p14:section>
        <p14:section name="Design" id="{5fad3c8d-c6a9-414c-38af-ec3298638dc0}">
          <p14:sldIdLst>
            <p14:sldId id="258"/>
            <p14:sldId id="259"/>
            <p14:sldId id="260"/>
            <p14:sldId id="261"/>
          </p14:sldIdLst>
        </p14:section>
        <p14:section name="Delivery" id="{c66484f9-3eb5-2cc1-3f44-b79977a16247}">
          <p14:sldIdLst>
            <p14:sldId id="262"/>
            <p14:sldId id="263"/>
            <p14:sldId id="264"/>
          </p14:sldIdLst>
        </p14:section>
        <p14:section name="Close" id="{41102191-7b1a-4e31-3a47-531d35976fc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web-based e-shopping store built for SE2030, group WEB3G2-32, as an individual pro-rata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goal is a simple storefront: browse products, place demo orders and manage 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flow: Browser → Spring MVC → OrderService → JPA → H2/MySQL.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modules: Product CRUD, single-product checkout, stock validation and order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Singleton: StoreConfiguration. Observer: OrderObserver → NotificationObserver.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entities: Product, CustomerOrder and OrderItem. Persistent local H2 database; MySQL is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add a product, browse the store, place a demo order, inspect stock and order, then change the order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is mvn test plus manual scenarios. Limitations: no real payments, authentication or customer accounts.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steps: authentication, a cart, email notifications, concurrent stock safety and stronger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questions; offer to walk through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SE2030  |  WEB3G2-32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urse tag"/>
          <p:cNvSpPr txBox="1"/>
          <p:nvPr/>
        </p:nvSpPr>
        <p:spPr>
          <a:xfrm>
            <a:off x="548640" y="1097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SE2030  |  WEB3G2-32</a:t>
            </a:r>
            <a:endParaRPr lang="en-US" sz="14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5087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Web-based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E-Shopping Store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154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Individual pro-rata project</a:t>
            </a:r>
            <a:endParaRPr lang="en-US" sz="1800" dirty="0"/>
          </a:p>
        </p:txBody>
      </p:sp>
      <p:sp>
        <p:nvSpPr>
          <p:cNvPr id="5" name="Browser window"/>
          <p:cNvSpPr/>
          <p:nvPr/>
        </p:nvSpPr>
        <p:spPr>
          <a:xfrm>
            <a:off x="5029200" y="731520"/>
            <a:ext cx="3566160" cy="361188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6" name="Browser bar"/>
          <p:cNvSpPr/>
          <p:nvPr/>
        </p:nvSpPr>
        <p:spPr>
          <a:xfrm>
            <a:off x="5029200" y="731520"/>
            <a:ext cx="3566160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Dot 1"/>
          <p:cNvSpPr/>
          <p:nvPr/>
        </p:nvSpPr>
        <p:spPr>
          <a:xfrm>
            <a:off x="5166360" y="859536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Dot 2"/>
          <p:cNvSpPr/>
          <p:nvPr/>
        </p:nvSpPr>
        <p:spPr>
          <a:xfrm>
            <a:off x="5349240" y="859536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Dot 3"/>
          <p:cNvSpPr/>
          <p:nvPr/>
        </p:nvSpPr>
        <p:spPr>
          <a:xfrm>
            <a:off x="5532120" y="859536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Address pill"/>
          <p:cNvSpPr/>
          <p:nvPr/>
        </p:nvSpPr>
        <p:spPr>
          <a:xfrm>
            <a:off x="5897880" y="822960"/>
            <a:ext cx="2560320" cy="182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1" name="Product card 1"/>
          <p:cNvSpPr/>
          <p:nvPr/>
        </p:nvSpPr>
        <p:spPr>
          <a:xfrm>
            <a:off x="5166360" y="1280160"/>
            <a:ext cx="1005840" cy="137160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2" name="Product tile 1"/>
          <p:cNvSpPr/>
          <p:nvPr/>
        </p:nvSpPr>
        <p:spPr>
          <a:xfrm>
            <a:off x="5239512" y="1353312"/>
            <a:ext cx="859536" cy="658368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</p:spPr>
      </p:sp>
      <p:pic>
        <p:nvPicPr>
          <p:cNvPr id="13" name="Product icon 1" descr="Produc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1463040"/>
            <a:ext cx="329184" cy="329184"/>
          </a:xfrm>
          <a:prstGeom prst="rect">
            <a:avLst/>
          </a:prstGeom>
        </p:spPr>
      </p:pic>
      <p:sp>
        <p:nvSpPr>
          <p:cNvPr id="14" name="Name line 1"/>
          <p:cNvSpPr/>
          <p:nvPr/>
        </p:nvSpPr>
        <p:spPr>
          <a:xfrm>
            <a:off x="5257800" y="2103120"/>
            <a:ext cx="640080" cy="64008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sp>
        <p:nvSpPr>
          <p:cNvPr id="15" name="Order pill 1"/>
          <p:cNvSpPr/>
          <p:nvPr/>
        </p:nvSpPr>
        <p:spPr>
          <a:xfrm>
            <a:off x="5257800" y="2286000"/>
            <a:ext cx="54864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Product card 2"/>
          <p:cNvSpPr/>
          <p:nvPr/>
        </p:nvSpPr>
        <p:spPr>
          <a:xfrm>
            <a:off x="6309360" y="1280160"/>
            <a:ext cx="1005840" cy="137160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7" name="Product tile 2"/>
          <p:cNvSpPr/>
          <p:nvPr/>
        </p:nvSpPr>
        <p:spPr>
          <a:xfrm>
            <a:off x="6382512" y="1353312"/>
            <a:ext cx="859536" cy="658368"/>
          </a:xfrm>
          <a:prstGeom prst="roundRect">
            <a:avLst>
              <a:gd name="adj" fmla="val 8333"/>
            </a:avLst>
          </a:prstGeom>
          <a:solidFill>
            <a:schemeClr val="accent4"/>
          </a:solidFill>
          <a:ln/>
        </p:spPr>
      </p:sp>
      <p:pic>
        <p:nvPicPr>
          <p:cNvPr id="18" name="Product icon 2" descr="Produc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463040"/>
            <a:ext cx="329184" cy="329184"/>
          </a:xfrm>
          <a:prstGeom prst="rect">
            <a:avLst/>
          </a:prstGeom>
        </p:spPr>
      </p:pic>
      <p:sp>
        <p:nvSpPr>
          <p:cNvPr id="19" name="Name line 2"/>
          <p:cNvSpPr/>
          <p:nvPr/>
        </p:nvSpPr>
        <p:spPr>
          <a:xfrm>
            <a:off x="6400800" y="2103120"/>
            <a:ext cx="640080" cy="64008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sp>
        <p:nvSpPr>
          <p:cNvPr id="20" name="Order pill 2"/>
          <p:cNvSpPr/>
          <p:nvPr/>
        </p:nvSpPr>
        <p:spPr>
          <a:xfrm>
            <a:off x="6400800" y="2286000"/>
            <a:ext cx="54864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Product card 3"/>
          <p:cNvSpPr/>
          <p:nvPr/>
        </p:nvSpPr>
        <p:spPr>
          <a:xfrm>
            <a:off x="7452360" y="1280160"/>
            <a:ext cx="1005840" cy="137160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2" name="Product tile 3"/>
          <p:cNvSpPr/>
          <p:nvPr/>
        </p:nvSpPr>
        <p:spPr>
          <a:xfrm>
            <a:off x="7525512" y="1353312"/>
            <a:ext cx="859536" cy="658368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pic>
        <p:nvPicPr>
          <p:cNvPr id="23" name="Product icon 3" descr="Produc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1463040"/>
            <a:ext cx="329184" cy="329184"/>
          </a:xfrm>
          <a:prstGeom prst="rect">
            <a:avLst/>
          </a:prstGeom>
        </p:spPr>
      </p:pic>
      <p:sp>
        <p:nvSpPr>
          <p:cNvPr id="24" name="Name line 3"/>
          <p:cNvSpPr/>
          <p:nvPr/>
        </p:nvSpPr>
        <p:spPr>
          <a:xfrm>
            <a:off x="7543800" y="2103120"/>
            <a:ext cx="640080" cy="64008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sp>
        <p:nvSpPr>
          <p:cNvPr id="25" name="Order pill 3"/>
          <p:cNvSpPr/>
          <p:nvPr/>
        </p:nvSpPr>
        <p:spPr>
          <a:xfrm>
            <a:off x="7543800" y="2286000"/>
            <a:ext cx="54864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Product card 4"/>
          <p:cNvSpPr/>
          <p:nvPr/>
        </p:nvSpPr>
        <p:spPr>
          <a:xfrm>
            <a:off x="5166360" y="2788920"/>
            <a:ext cx="1005840" cy="137160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7" name="Product tile 4"/>
          <p:cNvSpPr/>
          <p:nvPr/>
        </p:nvSpPr>
        <p:spPr>
          <a:xfrm>
            <a:off x="5239512" y="2862072"/>
            <a:ext cx="859536" cy="658368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/>
        </p:spPr>
      </p:sp>
      <p:pic>
        <p:nvPicPr>
          <p:cNvPr id="28" name="Product icon 4" descr="Produc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8" y="2971800"/>
            <a:ext cx="329184" cy="329184"/>
          </a:xfrm>
          <a:prstGeom prst="rect">
            <a:avLst/>
          </a:prstGeom>
        </p:spPr>
      </p:pic>
      <p:sp>
        <p:nvSpPr>
          <p:cNvPr id="29" name="Name line 4"/>
          <p:cNvSpPr/>
          <p:nvPr/>
        </p:nvSpPr>
        <p:spPr>
          <a:xfrm>
            <a:off x="5257800" y="3611880"/>
            <a:ext cx="640080" cy="64008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sp>
        <p:nvSpPr>
          <p:cNvPr id="30" name="Order pill 4"/>
          <p:cNvSpPr/>
          <p:nvPr/>
        </p:nvSpPr>
        <p:spPr>
          <a:xfrm>
            <a:off x="5257800" y="3794760"/>
            <a:ext cx="54864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1" name="Product card 5"/>
          <p:cNvSpPr/>
          <p:nvPr/>
        </p:nvSpPr>
        <p:spPr>
          <a:xfrm>
            <a:off x="6309360" y="2788920"/>
            <a:ext cx="1005840" cy="137160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32" name="Product tile 5"/>
          <p:cNvSpPr/>
          <p:nvPr/>
        </p:nvSpPr>
        <p:spPr>
          <a:xfrm>
            <a:off x="6382512" y="2862072"/>
            <a:ext cx="859536" cy="658368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/>
        </p:spPr>
      </p:sp>
      <p:pic>
        <p:nvPicPr>
          <p:cNvPr id="33" name="Product icon 5" descr="Produc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971800"/>
            <a:ext cx="329184" cy="329184"/>
          </a:xfrm>
          <a:prstGeom prst="rect">
            <a:avLst/>
          </a:prstGeom>
        </p:spPr>
      </p:pic>
      <p:sp>
        <p:nvSpPr>
          <p:cNvPr id="34" name="Name line 5"/>
          <p:cNvSpPr/>
          <p:nvPr/>
        </p:nvSpPr>
        <p:spPr>
          <a:xfrm>
            <a:off x="6400800" y="3611880"/>
            <a:ext cx="640080" cy="64008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sp>
        <p:nvSpPr>
          <p:cNvPr id="35" name="Order pill 5"/>
          <p:cNvSpPr/>
          <p:nvPr/>
        </p:nvSpPr>
        <p:spPr>
          <a:xfrm>
            <a:off x="6400800" y="3794760"/>
            <a:ext cx="54864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6" name="Product card 6"/>
          <p:cNvSpPr/>
          <p:nvPr/>
        </p:nvSpPr>
        <p:spPr>
          <a:xfrm>
            <a:off x="7452360" y="2788920"/>
            <a:ext cx="1005840" cy="137160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37" name="Product tile 6"/>
          <p:cNvSpPr/>
          <p:nvPr/>
        </p:nvSpPr>
        <p:spPr>
          <a:xfrm>
            <a:off x="7525512" y="2862072"/>
            <a:ext cx="859536" cy="658368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</p:sp>
      <p:pic>
        <p:nvPicPr>
          <p:cNvPr id="38" name="Product icon 6" descr="Produc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0688" y="2971800"/>
            <a:ext cx="329184" cy="329184"/>
          </a:xfrm>
          <a:prstGeom prst="rect">
            <a:avLst/>
          </a:prstGeom>
        </p:spPr>
      </p:pic>
      <p:sp>
        <p:nvSpPr>
          <p:cNvPr id="39" name="Name line 6"/>
          <p:cNvSpPr/>
          <p:nvPr/>
        </p:nvSpPr>
        <p:spPr>
          <a:xfrm>
            <a:off x="7543800" y="3611880"/>
            <a:ext cx="640080" cy="64008"/>
          </a:xfrm>
          <a:prstGeom prst="rect">
            <a:avLst/>
          </a:prstGeom>
          <a:solidFill>
            <a:schemeClr val="accent5">
              <a:alpha val="50000"/>
            </a:schemeClr>
          </a:solidFill>
          <a:ln/>
        </p:spPr>
      </p:sp>
      <p:sp>
        <p:nvSpPr>
          <p:cNvPr id="40" name="Order pill 6"/>
          <p:cNvSpPr/>
          <p:nvPr/>
        </p:nvSpPr>
        <p:spPr>
          <a:xfrm>
            <a:off x="7543800" y="3794760"/>
            <a:ext cx="54864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1" name="Mockup caption"/>
          <p:cNvSpPr txBox="1"/>
          <p:nvPr/>
        </p:nvSpPr>
        <p:spPr>
          <a:xfrm>
            <a:off x="5029200" y="4434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Illustrative storefront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 and objective</a:t>
            </a:r>
            <a:endParaRPr lang="en-US" sz="3400" dirty="0"/>
          </a:p>
        </p:txBody>
      </p:sp>
      <p:sp>
        <p:nvSpPr>
          <p:cNvPr id="3" name="Objective statement"/>
          <p:cNvSpPr txBox="1"/>
          <p:nvPr/>
        </p:nvSpPr>
        <p:spPr>
          <a:xfrm>
            <a:off x="548640" y="14630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A simple digital storefront for browsing products, placing demo orders and managing stock.</a:t>
            </a:r>
            <a:endParaRPr lang="en-US" sz="2200" dirty="0"/>
          </a:p>
        </p:txBody>
      </p:sp>
      <p:sp>
        <p:nvSpPr>
          <p:cNvPr id="4" name="Objective card 1"/>
          <p:cNvSpPr/>
          <p:nvPr/>
        </p:nvSpPr>
        <p:spPr>
          <a:xfrm>
            <a:off x="4572000" y="1371600"/>
            <a:ext cx="402336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Browse products icon circle"/>
          <p:cNvSpPr/>
          <p:nvPr/>
        </p:nvSpPr>
        <p:spPr>
          <a:xfrm>
            <a:off x="4791456" y="1522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Browse products icon" descr="Browse product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3188" y="1664208"/>
            <a:ext cx="283464" cy="283464"/>
          </a:xfrm>
          <a:prstGeom prst="rect">
            <a:avLst/>
          </a:prstGeom>
        </p:spPr>
      </p:pic>
      <p:sp>
        <p:nvSpPr>
          <p:cNvPr id="7" name="Browse products"/>
          <p:cNvSpPr txBox="1"/>
          <p:nvPr/>
        </p:nvSpPr>
        <p:spPr>
          <a:xfrm>
            <a:off x="5532120" y="14996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Browse products</a:t>
            </a:r>
            <a:endParaRPr lang="en-US" sz="1800" dirty="0"/>
          </a:p>
        </p:txBody>
      </p:sp>
      <p:sp>
        <p:nvSpPr>
          <p:cNvPr id="8" name="Browse products caption"/>
          <p:cNvSpPr txBox="1"/>
          <p:nvPr/>
        </p:nvSpPr>
        <p:spPr>
          <a:xfrm>
            <a:off x="553212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storefront anyone can explore</a:t>
            </a:r>
            <a:endParaRPr lang="en-US" sz="1400" dirty="0"/>
          </a:p>
        </p:txBody>
      </p:sp>
      <p:sp>
        <p:nvSpPr>
          <p:cNvPr id="9" name="Objective card 2"/>
          <p:cNvSpPr/>
          <p:nvPr/>
        </p:nvSpPr>
        <p:spPr>
          <a:xfrm>
            <a:off x="4572000" y="2423160"/>
            <a:ext cx="402336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10" name="Place demo orders icon circle"/>
          <p:cNvSpPr/>
          <p:nvPr/>
        </p:nvSpPr>
        <p:spPr>
          <a:xfrm>
            <a:off x="4791456" y="257403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Place demo orders icon" descr="Place demo ord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88" y="2715768"/>
            <a:ext cx="283464" cy="283464"/>
          </a:xfrm>
          <a:prstGeom prst="rect">
            <a:avLst/>
          </a:prstGeom>
        </p:spPr>
      </p:pic>
      <p:sp>
        <p:nvSpPr>
          <p:cNvPr id="12" name="Place demo orders"/>
          <p:cNvSpPr txBox="1"/>
          <p:nvPr/>
        </p:nvSpPr>
        <p:spPr>
          <a:xfrm>
            <a:off x="5532120" y="25511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Place demo orders</a:t>
            </a:r>
            <a:endParaRPr lang="en-US" sz="1800" dirty="0"/>
          </a:p>
        </p:txBody>
      </p:sp>
      <p:sp>
        <p:nvSpPr>
          <p:cNvPr id="13" name="Place demo orders caption"/>
          <p:cNvSpPr txBox="1"/>
          <p:nvPr/>
        </p:nvSpPr>
        <p:spPr>
          <a:xfrm>
            <a:off x="553212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Checkout flow, no real payments</a:t>
            </a:r>
            <a:endParaRPr lang="en-US" sz="1400" dirty="0"/>
          </a:p>
        </p:txBody>
      </p:sp>
      <p:sp>
        <p:nvSpPr>
          <p:cNvPr id="14" name="Objective card 3"/>
          <p:cNvSpPr/>
          <p:nvPr/>
        </p:nvSpPr>
        <p:spPr>
          <a:xfrm>
            <a:off x="4572000" y="3474720"/>
            <a:ext cx="402336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15" name="Manage stock icon circle"/>
          <p:cNvSpPr/>
          <p:nvPr/>
        </p:nvSpPr>
        <p:spPr>
          <a:xfrm>
            <a:off x="4791456" y="3625596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Manage stock icon" descr="Manage sto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188" y="3767328"/>
            <a:ext cx="283464" cy="283464"/>
          </a:xfrm>
          <a:prstGeom prst="rect">
            <a:avLst/>
          </a:prstGeom>
        </p:spPr>
      </p:pic>
      <p:sp>
        <p:nvSpPr>
          <p:cNvPr id="17" name="Manage stock"/>
          <p:cNvSpPr txBox="1"/>
          <p:nvPr/>
        </p:nvSpPr>
        <p:spPr>
          <a:xfrm>
            <a:off x="5532120" y="36027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Manage stock</a:t>
            </a:r>
            <a:endParaRPr lang="en-US" sz="1800" dirty="0"/>
          </a:p>
        </p:txBody>
      </p:sp>
      <p:sp>
        <p:nvSpPr>
          <p:cNvPr id="18" name="Manage stock caption"/>
          <p:cNvSpPr txBox="1"/>
          <p:nvPr/>
        </p:nvSpPr>
        <p:spPr>
          <a:xfrm>
            <a:off x="553212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Inventory kept in step with orders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Architecture</a:t>
            </a:r>
            <a:endParaRPr lang="en-US" sz="3400" dirty="0"/>
          </a:p>
        </p:txBody>
      </p:sp>
      <p:sp>
        <p:nvSpPr>
          <p:cNvPr id="3" name="Node Browser"/>
          <p:cNvSpPr/>
          <p:nvPr/>
        </p:nvSpPr>
        <p:spPr>
          <a:xfrm>
            <a:off x="548640" y="1508760"/>
            <a:ext cx="1280160" cy="16916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4" name="Browser icon circle"/>
          <p:cNvSpPr/>
          <p:nvPr/>
        </p:nvSpPr>
        <p:spPr>
          <a:xfrm>
            <a:off x="905256" y="16824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rowser icon" descr="Brows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824228"/>
            <a:ext cx="283464" cy="283464"/>
          </a:xfrm>
          <a:prstGeom prst="rect">
            <a:avLst/>
          </a:prstGeom>
        </p:spPr>
      </p:pic>
      <p:sp>
        <p:nvSpPr>
          <p:cNvPr id="6" name="Browser label"/>
          <p:cNvSpPr txBox="1"/>
          <p:nvPr/>
        </p:nvSpPr>
        <p:spPr>
          <a:xfrm>
            <a:off x="59436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Browser</a:t>
            </a:r>
            <a:endParaRPr lang="en-US" sz="1400" dirty="0"/>
          </a:p>
        </p:txBody>
      </p:sp>
      <p:sp>
        <p:nvSpPr>
          <p:cNvPr id="7" name="Browser role"/>
          <p:cNvSpPr txBox="1"/>
          <p:nvPr/>
        </p:nvSpPr>
        <p:spPr>
          <a:xfrm>
            <a:off x="594360" y="2697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Client</a:t>
            </a:r>
            <a:endParaRPr lang="en-US" sz="1200" dirty="0"/>
          </a:p>
        </p:txBody>
      </p:sp>
      <p:sp>
        <p:nvSpPr>
          <p:cNvPr id="8" name="Arrow 1"/>
          <p:cNvSpPr/>
          <p:nvPr/>
        </p:nvSpPr>
        <p:spPr>
          <a:xfrm>
            <a:off x="1920240" y="2240280"/>
            <a:ext cx="228600" cy="22860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9" name="Node Spring MVC"/>
          <p:cNvSpPr/>
          <p:nvPr/>
        </p:nvSpPr>
        <p:spPr>
          <a:xfrm>
            <a:off x="2240280" y="1508760"/>
            <a:ext cx="1280160" cy="16916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10" name="Spring MVC icon circle"/>
          <p:cNvSpPr/>
          <p:nvPr/>
        </p:nvSpPr>
        <p:spPr>
          <a:xfrm>
            <a:off x="2596896" y="168249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Spring MVC icon" descr="Spring MVC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628" y="1824228"/>
            <a:ext cx="283464" cy="283464"/>
          </a:xfrm>
          <a:prstGeom prst="rect">
            <a:avLst/>
          </a:prstGeom>
        </p:spPr>
      </p:pic>
      <p:sp>
        <p:nvSpPr>
          <p:cNvPr id="12" name="Spring MVC label"/>
          <p:cNvSpPr txBox="1"/>
          <p:nvPr/>
        </p:nvSpPr>
        <p:spPr>
          <a:xfrm>
            <a:off x="228600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Spring MVC</a:t>
            </a:r>
            <a:endParaRPr lang="en-US" sz="1400" dirty="0"/>
          </a:p>
        </p:txBody>
      </p:sp>
      <p:sp>
        <p:nvSpPr>
          <p:cNvPr id="13" name="Spring MVC role"/>
          <p:cNvSpPr txBox="1"/>
          <p:nvPr/>
        </p:nvSpPr>
        <p:spPr>
          <a:xfrm>
            <a:off x="2286000" y="2697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Controllers &amp; views</a:t>
            </a:r>
            <a:endParaRPr lang="en-US" sz="1200" dirty="0"/>
          </a:p>
        </p:txBody>
      </p:sp>
      <p:sp>
        <p:nvSpPr>
          <p:cNvPr id="14" name="Arrow 2"/>
          <p:cNvSpPr/>
          <p:nvPr/>
        </p:nvSpPr>
        <p:spPr>
          <a:xfrm>
            <a:off x="3611880" y="2240280"/>
            <a:ext cx="228600" cy="22860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5" name="Node OrderService"/>
          <p:cNvSpPr/>
          <p:nvPr/>
        </p:nvSpPr>
        <p:spPr>
          <a:xfrm>
            <a:off x="3931920" y="1508760"/>
            <a:ext cx="1280160" cy="16916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16" name="OrderService icon circle"/>
          <p:cNvSpPr/>
          <p:nvPr/>
        </p:nvSpPr>
        <p:spPr>
          <a:xfrm>
            <a:off x="4288536" y="1682496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7" name="OrderService icon" descr="OrderServic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268" y="1824228"/>
            <a:ext cx="283464" cy="283464"/>
          </a:xfrm>
          <a:prstGeom prst="rect">
            <a:avLst/>
          </a:prstGeom>
        </p:spPr>
      </p:pic>
      <p:sp>
        <p:nvSpPr>
          <p:cNvPr id="18" name="OrderService label"/>
          <p:cNvSpPr txBox="1"/>
          <p:nvPr/>
        </p:nvSpPr>
        <p:spPr>
          <a:xfrm>
            <a:off x="397764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OrderService</a:t>
            </a:r>
            <a:endParaRPr lang="en-US" sz="1400" dirty="0"/>
          </a:p>
        </p:txBody>
      </p:sp>
      <p:sp>
        <p:nvSpPr>
          <p:cNvPr id="19" name="OrderService role"/>
          <p:cNvSpPr txBox="1"/>
          <p:nvPr/>
        </p:nvSpPr>
        <p:spPr>
          <a:xfrm>
            <a:off x="3977640" y="2697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Business logic</a:t>
            </a:r>
            <a:endParaRPr lang="en-US" sz="1200" dirty="0"/>
          </a:p>
        </p:txBody>
      </p:sp>
      <p:sp>
        <p:nvSpPr>
          <p:cNvPr id="20" name="Arrow 3"/>
          <p:cNvSpPr/>
          <p:nvPr/>
        </p:nvSpPr>
        <p:spPr>
          <a:xfrm>
            <a:off x="5303520" y="2240280"/>
            <a:ext cx="228600" cy="22860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1" name="Node JPA"/>
          <p:cNvSpPr/>
          <p:nvPr/>
        </p:nvSpPr>
        <p:spPr>
          <a:xfrm>
            <a:off x="5623560" y="1508760"/>
            <a:ext cx="1280160" cy="16916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22" name="JPA icon circle"/>
          <p:cNvSpPr/>
          <p:nvPr/>
        </p:nvSpPr>
        <p:spPr>
          <a:xfrm>
            <a:off x="5980176" y="1682496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JPA icon" descr="JPA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908" y="1824228"/>
            <a:ext cx="283464" cy="283464"/>
          </a:xfrm>
          <a:prstGeom prst="rect">
            <a:avLst/>
          </a:prstGeom>
        </p:spPr>
      </p:pic>
      <p:sp>
        <p:nvSpPr>
          <p:cNvPr id="24" name="JPA label"/>
          <p:cNvSpPr txBox="1"/>
          <p:nvPr/>
        </p:nvSpPr>
        <p:spPr>
          <a:xfrm>
            <a:off x="566928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JPA</a:t>
            </a:r>
            <a:endParaRPr lang="en-US" sz="1400" dirty="0"/>
          </a:p>
        </p:txBody>
      </p:sp>
      <p:sp>
        <p:nvSpPr>
          <p:cNvPr id="25" name="JPA role"/>
          <p:cNvSpPr txBox="1"/>
          <p:nvPr/>
        </p:nvSpPr>
        <p:spPr>
          <a:xfrm>
            <a:off x="5669280" y="2697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Persistence</a:t>
            </a:r>
            <a:endParaRPr lang="en-US" sz="1200" dirty="0"/>
          </a:p>
        </p:txBody>
      </p:sp>
      <p:sp>
        <p:nvSpPr>
          <p:cNvPr id="26" name="Arrow 4"/>
          <p:cNvSpPr/>
          <p:nvPr/>
        </p:nvSpPr>
        <p:spPr>
          <a:xfrm>
            <a:off x="6995160" y="2240280"/>
            <a:ext cx="228600" cy="22860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7" name="Node H2 / MySQL"/>
          <p:cNvSpPr/>
          <p:nvPr/>
        </p:nvSpPr>
        <p:spPr>
          <a:xfrm>
            <a:off x="7315200" y="1508760"/>
            <a:ext cx="1280160" cy="169164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28" name="H2 / MySQL icon circle"/>
          <p:cNvSpPr/>
          <p:nvPr/>
        </p:nvSpPr>
        <p:spPr>
          <a:xfrm>
            <a:off x="7671816" y="1682496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H2 / MySQL icon" descr="H2 / MySQ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548" y="1824228"/>
            <a:ext cx="283464" cy="283464"/>
          </a:xfrm>
          <a:prstGeom prst="rect">
            <a:avLst/>
          </a:prstGeom>
        </p:spPr>
      </p:pic>
      <p:sp>
        <p:nvSpPr>
          <p:cNvPr id="30" name="H2 / MySQL label"/>
          <p:cNvSpPr txBox="1"/>
          <p:nvPr/>
        </p:nvSpPr>
        <p:spPr>
          <a:xfrm>
            <a:off x="736092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H2 / MySQL</a:t>
            </a:r>
            <a:endParaRPr lang="en-US" sz="1400" dirty="0"/>
          </a:p>
        </p:txBody>
      </p:sp>
      <p:sp>
        <p:nvSpPr>
          <p:cNvPr id="31" name="H2 / MySQL role"/>
          <p:cNvSpPr txBox="1"/>
          <p:nvPr/>
        </p:nvSpPr>
        <p:spPr>
          <a:xfrm>
            <a:off x="7360920" y="2697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Database</a:t>
            </a:r>
            <a:endParaRPr lang="en-US" sz="1200" dirty="0"/>
          </a:p>
        </p:txBody>
      </p:sp>
      <p:sp>
        <p:nvSpPr>
          <p:cNvPr id="32" name="Presentation layer"/>
          <p:cNvSpPr/>
          <p:nvPr/>
        </p:nvSpPr>
        <p:spPr>
          <a:xfrm>
            <a:off x="548640" y="3611880"/>
            <a:ext cx="2971800" cy="384048"/>
          </a:xfrm>
          <a:prstGeom prst="roundRect">
            <a:avLst>
              <a:gd name="adj" fmla="val 50000"/>
            </a:avLst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3" name="Presentation layer label"/>
          <p:cNvSpPr txBox="1"/>
          <p:nvPr/>
        </p:nvSpPr>
        <p:spPr>
          <a:xfrm>
            <a:off x="548640" y="36118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Presentation</a:t>
            </a:r>
            <a:endParaRPr lang="en-US" sz="1400" dirty="0"/>
          </a:p>
        </p:txBody>
      </p:sp>
      <p:sp>
        <p:nvSpPr>
          <p:cNvPr id="34" name="Business layer"/>
          <p:cNvSpPr/>
          <p:nvPr/>
        </p:nvSpPr>
        <p:spPr>
          <a:xfrm>
            <a:off x="3931920" y="361188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6">
              <a:alpha val="18000"/>
            </a:schemeClr>
          </a:solidFill>
          <a:ln/>
        </p:spPr>
      </p:sp>
      <p:sp>
        <p:nvSpPr>
          <p:cNvPr id="35" name="Business layer label"/>
          <p:cNvSpPr txBox="1"/>
          <p:nvPr/>
        </p:nvSpPr>
        <p:spPr>
          <a:xfrm>
            <a:off x="3931920" y="36118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Business</a:t>
            </a:r>
            <a:endParaRPr lang="en-US" sz="1400" dirty="0"/>
          </a:p>
        </p:txBody>
      </p:sp>
      <p:sp>
        <p:nvSpPr>
          <p:cNvPr id="36" name="Data layer"/>
          <p:cNvSpPr/>
          <p:nvPr/>
        </p:nvSpPr>
        <p:spPr>
          <a:xfrm>
            <a:off x="5623560" y="3611880"/>
            <a:ext cx="2971800" cy="384048"/>
          </a:xfrm>
          <a:prstGeom prst="roundRect">
            <a:avLst>
              <a:gd name="adj" fmla="val 50000"/>
            </a:avLst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37" name="Data layer label"/>
          <p:cNvSpPr txBox="1"/>
          <p:nvPr/>
        </p:nvSpPr>
        <p:spPr>
          <a:xfrm>
            <a:off x="5623560" y="36118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Implemented modules</a:t>
            </a:r>
            <a:endParaRPr lang="en-US" sz="3400" dirty="0"/>
          </a:p>
        </p:txBody>
      </p:sp>
      <p:sp>
        <p:nvSpPr>
          <p:cNvPr id="3" name="Module card 1"/>
          <p:cNvSpPr/>
          <p:nvPr/>
        </p:nvSpPr>
        <p:spPr>
          <a:xfrm>
            <a:off x="548640" y="141732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4" name="Product CRUD icon circle"/>
          <p:cNvSpPr/>
          <p:nvPr/>
        </p:nvSpPr>
        <p:spPr>
          <a:xfrm>
            <a:off x="822960" y="17602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roduct CRUD icon" descr="Product CRU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43100"/>
            <a:ext cx="365760" cy="365760"/>
          </a:xfrm>
          <a:prstGeom prst="rect">
            <a:avLst/>
          </a:prstGeom>
        </p:spPr>
      </p:pic>
      <p:sp>
        <p:nvSpPr>
          <p:cNvPr id="6" name="Product CRUD"/>
          <p:cNvSpPr txBox="1"/>
          <p:nvPr/>
        </p:nvSpPr>
        <p:spPr>
          <a:xfrm>
            <a:off x="1783080" y="1709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Product CRUD</a:t>
            </a:r>
            <a:endParaRPr lang="en-US" sz="1800" dirty="0"/>
          </a:p>
        </p:txBody>
      </p:sp>
      <p:sp>
        <p:nvSpPr>
          <p:cNvPr id="7" name="Product CRUD description"/>
          <p:cNvSpPr txBox="1"/>
          <p:nvPr/>
        </p:nvSpPr>
        <p:spPr>
          <a:xfrm>
            <a:off x="178308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Create, view, update and delete products</a:t>
            </a:r>
            <a:endParaRPr lang="en-US" sz="1400" dirty="0"/>
          </a:p>
        </p:txBody>
      </p:sp>
      <p:sp>
        <p:nvSpPr>
          <p:cNvPr id="8" name="Module card 2"/>
          <p:cNvSpPr/>
          <p:nvPr/>
        </p:nvSpPr>
        <p:spPr>
          <a:xfrm>
            <a:off x="4663440" y="141732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ingle-product checkout icon circle"/>
          <p:cNvSpPr/>
          <p:nvPr/>
        </p:nvSpPr>
        <p:spPr>
          <a:xfrm>
            <a:off x="4937760" y="17602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Single-product checkout icon" descr="Single-product checkou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943100"/>
            <a:ext cx="365760" cy="365760"/>
          </a:xfrm>
          <a:prstGeom prst="rect">
            <a:avLst/>
          </a:prstGeom>
        </p:spPr>
      </p:pic>
      <p:sp>
        <p:nvSpPr>
          <p:cNvPr id="11" name="Single-product checkout"/>
          <p:cNvSpPr txBox="1"/>
          <p:nvPr/>
        </p:nvSpPr>
        <p:spPr>
          <a:xfrm>
            <a:off x="5897880" y="1709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Single-product checkout</a:t>
            </a:r>
            <a:endParaRPr lang="en-US" sz="1800" dirty="0"/>
          </a:p>
        </p:txBody>
      </p:sp>
      <p:sp>
        <p:nvSpPr>
          <p:cNvPr id="12" name="Single-product checkout description"/>
          <p:cNvSpPr txBox="1"/>
          <p:nvPr/>
        </p:nvSpPr>
        <p:spPr>
          <a:xfrm>
            <a:off x="589788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Place an order for one product</a:t>
            </a:r>
            <a:endParaRPr lang="en-US" sz="1400" dirty="0"/>
          </a:p>
        </p:txBody>
      </p:sp>
      <p:sp>
        <p:nvSpPr>
          <p:cNvPr id="13" name="Module card 3"/>
          <p:cNvSpPr/>
          <p:nvPr/>
        </p:nvSpPr>
        <p:spPr>
          <a:xfrm>
            <a:off x="548640" y="306324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14" name="Stock validation icon circle"/>
          <p:cNvSpPr/>
          <p:nvPr/>
        </p:nvSpPr>
        <p:spPr>
          <a:xfrm>
            <a:off x="822960" y="340614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Stock validation icon" descr="Stock validatio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89020"/>
            <a:ext cx="365760" cy="365760"/>
          </a:xfrm>
          <a:prstGeom prst="rect">
            <a:avLst/>
          </a:prstGeom>
        </p:spPr>
      </p:pic>
      <p:sp>
        <p:nvSpPr>
          <p:cNvPr id="16" name="Stock validation"/>
          <p:cNvSpPr txBox="1"/>
          <p:nvPr/>
        </p:nvSpPr>
        <p:spPr>
          <a:xfrm>
            <a:off x="1783080" y="3355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Stock validation</a:t>
            </a:r>
            <a:endParaRPr lang="en-US" sz="1800" dirty="0"/>
          </a:p>
        </p:txBody>
      </p:sp>
      <p:sp>
        <p:nvSpPr>
          <p:cNvPr id="17" name="Stock validation description"/>
          <p:cNvSpPr txBox="1"/>
          <p:nvPr/>
        </p:nvSpPr>
        <p:spPr>
          <a:xfrm>
            <a:off x="1783080" y="3749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Orders checked against available stock</a:t>
            </a:r>
            <a:endParaRPr lang="en-US" sz="1400" dirty="0"/>
          </a:p>
        </p:txBody>
      </p:sp>
      <p:sp>
        <p:nvSpPr>
          <p:cNvPr id="18" name="Module card 4"/>
          <p:cNvSpPr/>
          <p:nvPr/>
        </p:nvSpPr>
        <p:spPr>
          <a:xfrm>
            <a:off x="4663440" y="306324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19" name="Order management icon circle"/>
          <p:cNvSpPr/>
          <p:nvPr/>
        </p:nvSpPr>
        <p:spPr>
          <a:xfrm>
            <a:off x="4937760" y="34061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Order management icon" descr="Order managemen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589020"/>
            <a:ext cx="365760" cy="365760"/>
          </a:xfrm>
          <a:prstGeom prst="rect">
            <a:avLst/>
          </a:prstGeom>
        </p:spPr>
      </p:pic>
      <p:sp>
        <p:nvSpPr>
          <p:cNvPr id="21" name="Order management"/>
          <p:cNvSpPr txBox="1"/>
          <p:nvPr/>
        </p:nvSpPr>
        <p:spPr>
          <a:xfrm>
            <a:off x="5897880" y="3355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Order management</a:t>
            </a:r>
            <a:endParaRPr lang="en-US" sz="1800" dirty="0"/>
          </a:p>
        </p:txBody>
      </p:sp>
      <p:sp>
        <p:nvSpPr>
          <p:cNvPr id="22" name="Order management description"/>
          <p:cNvSpPr txBox="1"/>
          <p:nvPr/>
        </p:nvSpPr>
        <p:spPr>
          <a:xfrm>
            <a:off x="5897880" y="3749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Review orders and change their status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Design patterns</a:t>
            </a:r>
            <a:endParaRPr lang="en-US" sz="3400" dirty="0"/>
          </a:p>
        </p:txBody>
      </p:sp>
      <p:sp>
        <p:nvSpPr>
          <p:cNvPr id="3" name="Singleton card"/>
          <p:cNvSpPr/>
          <p:nvPr/>
        </p:nvSpPr>
        <p:spPr>
          <a:xfrm>
            <a:off x="548640" y="1371600"/>
            <a:ext cx="393192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4" name="Observer card"/>
          <p:cNvSpPr/>
          <p:nvPr/>
        </p:nvSpPr>
        <p:spPr>
          <a:xfrm>
            <a:off x="4663440" y="1371600"/>
            <a:ext cx="393192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Singleton 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ingleton icon" descr="Singlet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7" name="Singleton title"/>
          <p:cNvSpPr txBox="1"/>
          <p:nvPr/>
        </p:nvSpPr>
        <p:spPr>
          <a:xfrm>
            <a:off x="146304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Singleton</a:t>
            </a:r>
            <a:endParaRPr lang="en-US" sz="2200" dirty="0"/>
          </a:p>
        </p:txBody>
      </p:sp>
      <p:sp>
        <p:nvSpPr>
          <p:cNvPr id="8" name="StoreConfiguration chip"/>
          <p:cNvSpPr/>
          <p:nvPr/>
        </p:nvSpPr>
        <p:spPr>
          <a:xfrm>
            <a:off x="1097280" y="2606040"/>
            <a:ext cx="292608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9" name="StoreConfiguration label"/>
          <p:cNvSpPr txBox="1"/>
          <p:nvPr/>
        </p:nvSpPr>
        <p:spPr>
          <a:xfrm>
            <a:off x="109728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StoreConfiguration</a:t>
            </a:r>
            <a:endParaRPr lang="en-US" sz="1600" dirty="0"/>
          </a:p>
        </p:txBody>
      </p:sp>
      <p:sp>
        <p:nvSpPr>
          <p:cNvPr id="10" name="Singleton caption"/>
          <p:cNvSpPr txBox="1"/>
          <p:nvPr/>
        </p:nvSpPr>
        <p:spPr>
          <a:xfrm>
            <a:off x="914400" y="3474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shared instance of the store configuration</a:t>
            </a:r>
            <a:endParaRPr lang="en-US" sz="1400" dirty="0"/>
          </a:p>
        </p:txBody>
      </p:sp>
      <p:sp>
        <p:nvSpPr>
          <p:cNvPr id="11" name="Observer icon circle"/>
          <p:cNvSpPr/>
          <p:nvPr/>
        </p:nvSpPr>
        <p:spPr>
          <a:xfrm>
            <a:off x="4892040" y="1600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Observer icon" descr="Observe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37360"/>
            <a:ext cx="274320" cy="274320"/>
          </a:xfrm>
          <a:prstGeom prst="rect">
            <a:avLst/>
          </a:prstGeom>
        </p:spPr>
      </p:pic>
      <p:sp>
        <p:nvSpPr>
          <p:cNvPr id="13" name="Observer title"/>
          <p:cNvSpPr txBox="1"/>
          <p:nvPr/>
        </p:nvSpPr>
        <p:spPr>
          <a:xfrm>
            <a:off x="557784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Observer</a:t>
            </a:r>
            <a:endParaRPr lang="en-US" sz="2200" dirty="0"/>
          </a:p>
        </p:txBody>
      </p:sp>
      <p:sp>
        <p:nvSpPr>
          <p:cNvPr id="14" name="OrderObserver chip"/>
          <p:cNvSpPr/>
          <p:nvPr/>
        </p:nvSpPr>
        <p:spPr>
          <a:xfrm>
            <a:off x="5212080" y="2377440"/>
            <a:ext cx="29260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5" name="OrderObserver label"/>
          <p:cNvSpPr txBox="1"/>
          <p:nvPr/>
        </p:nvSpPr>
        <p:spPr>
          <a:xfrm>
            <a:off x="5212080" y="2377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OrderObserver</a:t>
            </a:r>
            <a:endParaRPr lang="en-US" sz="1600" dirty="0"/>
          </a:p>
        </p:txBody>
      </p:sp>
      <p:sp>
        <p:nvSpPr>
          <p:cNvPr id="16" name="Observer arrow"/>
          <p:cNvSpPr/>
          <p:nvPr/>
        </p:nvSpPr>
        <p:spPr>
          <a:xfrm>
            <a:off x="6492240" y="3017520"/>
            <a:ext cx="365760" cy="365760"/>
          </a:xfrm>
          <a:prstGeom prst="downArrow">
            <a:avLst/>
          </a:prstGeom>
          <a:solidFill>
            <a:schemeClr val="accent5"/>
          </a:solidFill>
          <a:ln/>
        </p:spPr>
      </p:sp>
      <p:sp>
        <p:nvSpPr>
          <p:cNvPr id="17" name="NotificationObserver chip"/>
          <p:cNvSpPr/>
          <p:nvPr/>
        </p:nvSpPr>
        <p:spPr>
          <a:xfrm>
            <a:off x="5212080" y="3474720"/>
            <a:ext cx="292608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8" name="NotificationObserver label"/>
          <p:cNvSpPr txBox="1"/>
          <p:nvPr/>
        </p:nvSpPr>
        <p:spPr>
          <a:xfrm>
            <a:off x="5212080" y="3474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NotificationObserver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Database</a:t>
            </a:r>
            <a:endParaRPr lang="en-US" sz="3400" dirty="0"/>
          </a:p>
        </p:txBody>
      </p:sp>
      <p:sp>
        <p:nvSpPr>
          <p:cNvPr id="3" name="Entity CustomerOrder"/>
          <p:cNvSpPr/>
          <p:nvPr/>
        </p:nvSpPr>
        <p:spPr>
          <a:xfrm>
            <a:off x="548640" y="141732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4" name="CustomerOrder icon circle"/>
          <p:cNvSpPr/>
          <p:nvPr/>
        </p:nvSpPr>
        <p:spPr>
          <a:xfrm>
            <a:off x="1303020" y="15773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ustomerOrder icon" descr="CustomerOrd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750" y="1703070"/>
            <a:ext cx="251460" cy="251460"/>
          </a:xfrm>
          <a:prstGeom prst="rect">
            <a:avLst/>
          </a:prstGeom>
        </p:spPr>
      </p:pic>
      <p:sp>
        <p:nvSpPr>
          <p:cNvPr id="6" name="CustomerOrder label"/>
          <p:cNvSpPr txBox="1"/>
          <p:nvPr/>
        </p:nvSpPr>
        <p:spPr>
          <a:xfrm>
            <a:off x="54864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CustomerOrder</a:t>
            </a:r>
            <a:endParaRPr lang="en-US" sz="1600" dirty="0"/>
          </a:p>
        </p:txBody>
      </p:sp>
      <p:sp>
        <p:nvSpPr>
          <p:cNvPr id="7" name="Entity OrderItem"/>
          <p:cNvSpPr/>
          <p:nvPr/>
        </p:nvSpPr>
        <p:spPr>
          <a:xfrm>
            <a:off x="3566160" y="141732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8" name="OrderItem icon circle"/>
          <p:cNvSpPr/>
          <p:nvPr/>
        </p:nvSpPr>
        <p:spPr>
          <a:xfrm>
            <a:off x="4320540" y="157734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9" name="OrderItem icon" descr="OrderItem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270" y="1703070"/>
            <a:ext cx="251460" cy="251460"/>
          </a:xfrm>
          <a:prstGeom prst="rect">
            <a:avLst/>
          </a:prstGeom>
        </p:spPr>
      </p:pic>
      <p:sp>
        <p:nvSpPr>
          <p:cNvPr id="10" name="OrderItem label"/>
          <p:cNvSpPr txBox="1"/>
          <p:nvPr/>
        </p:nvSpPr>
        <p:spPr>
          <a:xfrm>
            <a:off x="356616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OrderItem</a:t>
            </a:r>
            <a:endParaRPr lang="en-US" sz="1600" dirty="0"/>
          </a:p>
        </p:txBody>
      </p:sp>
      <p:sp>
        <p:nvSpPr>
          <p:cNvPr id="11" name="Entity Product"/>
          <p:cNvSpPr/>
          <p:nvPr/>
        </p:nvSpPr>
        <p:spPr>
          <a:xfrm>
            <a:off x="6583680" y="141732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12" name="Product icon circle"/>
          <p:cNvSpPr/>
          <p:nvPr/>
        </p:nvSpPr>
        <p:spPr>
          <a:xfrm>
            <a:off x="7338060" y="15773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Product icon" descr="Produc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790" y="1703070"/>
            <a:ext cx="251460" cy="251460"/>
          </a:xfrm>
          <a:prstGeom prst="rect">
            <a:avLst/>
          </a:prstGeom>
        </p:spPr>
      </p:pic>
      <p:sp>
        <p:nvSpPr>
          <p:cNvPr id="14" name="Product label"/>
          <p:cNvSpPr txBox="1"/>
          <p:nvPr/>
        </p:nvSpPr>
        <p:spPr>
          <a:xfrm>
            <a:off x="658368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</a:t>
            </a:r>
            <a:endParaRPr lang="en-US" sz="1600" dirty="0"/>
          </a:p>
        </p:txBody>
      </p:sp>
      <p:sp>
        <p:nvSpPr>
          <p:cNvPr id="15" name="Relation 1"/>
          <p:cNvSpPr/>
          <p:nvPr/>
        </p:nvSpPr>
        <p:spPr>
          <a:xfrm>
            <a:off x="2560320" y="2011680"/>
            <a:ext cx="10058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6" name="Relation 2"/>
          <p:cNvSpPr/>
          <p:nvPr/>
        </p:nvSpPr>
        <p:spPr>
          <a:xfrm>
            <a:off x="5577840" y="2011680"/>
            <a:ext cx="10058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7" name="Cardinality 1"/>
          <p:cNvSpPr txBox="1"/>
          <p:nvPr/>
        </p:nvSpPr>
        <p:spPr>
          <a:xfrm>
            <a:off x="2560320" y="1737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Cardinality many a"/>
          <p:cNvSpPr txBox="1"/>
          <p:nvPr/>
        </p:nvSpPr>
        <p:spPr>
          <a:xfrm>
            <a:off x="3154680" y="1737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many</a:t>
            </a:r>
            <a:endParaRPr lang="en-US" sz="1200" dirty="0"/>
          </a:p>
        </p:txBody>
      </p:sp>
      <p:sp>
        <p:nvSpPr>
          <p:cNvPr id="19" name="Cardinality many b"/>
          <p:cNvSpPr txBox="1"/>
          <p:nvPr/>
        </p:nvSpPr>
        <p:spPr>
          <a:xfrm>
            <a:off x="5577840" y="1737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many</a:t>
            </a:r>
            <a:endParaRPr lang="en-US" sz="1200" dirty="0"/>
          </a:p>
        </p:txBody>
      </p:sp>
      <p:sp>
        <p:nvSpPr>
          <p:cNvPr id="20" name="Cardinality 1 b"/>
          <p:cNvSpPr txBox="1"/>
          <p:nvPr/>
        </p:nvSpPr>
        <p:spPr>
          <a:xfrm>
            <a:off x="6309360" y="1737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H2 card"/>
          <p:cNvSpPr/>
          <p:nvPr/>
        </p:nvSpPr>
        <p:spPr>
          <a:xfrm>
            <a:off x="548640" y="3108960"/>
            <a:ext cx="39319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22" name="H2 icon circle"/>
          <p:cNvSpPr/>
          <p:nvPr/>
        </p:nvSpPr>
        <p:spPr>
          <a:xfrm>
            <a:off x="845820" y="33604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H2 icon" descr="H2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3509010"/>
            <a:ext cx="297180" cy="297180"/>
          </a:xfrm>
          <a:prstGeom prst="rect">
            <a:avLst/>
          </a:prstGeom>
        </p:spPr>
      </p:pic>
      <p:sp>
        <p:nvSpPr>
          <p:cNvPr id="24" name="H2 text"/>
          <p:cNvSpPr txBox="1"/>
          <p:nvPr/>
        </p:nvSpPr>
        <p:spPr>
          <a:xfrm>
            <a:off x="1645920" y="32918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Persistent local H2 database</a:t>
            </a:r>
            <a:endParaRPr lang="en-US" sz="1600" dirty="0"/>
          </a:p>
        </p:txBody>
      </p:sp>
      <p:sp>
        <p:nvSpPr>
          <p:cNvPr id="25" name="MySQL card"/>
          <p:cNvSpPr/>
          <p:nvPr/>
        </p:nvSpPr>
        <p:spPr>
          <a:xfrm>
            <a:off x="4663440" y="3108960"/>
            <a:ext cx="39319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26" name="MySQL icon circle"/>
          <p:cNvSpPr/>
          <p:nvPr/>
        </p:nvSpPr>
        <p:spPr>
          <a:xfrm>
            <a:off x="4960620" y="33604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MySQL icon" descr="MySQ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9210" y="3509010"/>
            <a:ext cx="297180" cy="297180"/>
          </a:xfrm>
          <a:prstGeom prst="rect">
            <a:avLst/>
          </a:prstGeom>
        </p:spPr>
      </p:pic>
      <p:sp>
        <p:nvSpPr>
          <p:cNvPr id="28" name="MySQL text"/>
          <p:cNvSpPr txBox="1"/>
          <p:nvPr/>
        </p:nvSpPr>
        <p:spPr>
          <a:xfrm>
            <a:off x="5760720" y="32918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Optional MySQL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Demonstration plan</a:t>
            </a:r>
            <a:endParaRPr lang="en-US" sz="3400" dirty="0"/>
          </a:p>
        </p:txBody>
      </p:sp>
      <p:sp>
        <p:nvSpPr>
          <p:cNvPr id="3" name="Timeline line"/>
          <p:cNvSpPr/>
          <p:nvPr/>
        </p:nvSpPr>
        <p:spPr>
          <a:xfrm>
            <a:off x="1280160" y="2423160"/>
            <a:ext cx="65836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dash"/>
          </a:ln>
        </p:spPr>
      </p:sp>
      <p:sp>
        <p:nvSpPr>
          <p:cNvPr id="4" name="Step tag 1"/>
          <p:cNvSpPr txBox="1"/>
          <p:nvPr/>
        </p:nvSpPr>
        <p:spPr>
          <a:xfrm>
            <a:off x="64008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STEP 1</a:t>
            </a:r>
            <a:endParaRPr lang="en-US" sz="1200" dirty="0"/>
          </a:p>
        </p:txBody>
      </p:sp>
      <p:sp>
        <p:nvSpPr>
          <p:cNvPr id="5" name="Step 1 icon circle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tep 1 icon" descr="Step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17420"/>
            <a:ext cx="411480" cy="411480"/>
          </a:xfrm>
          <a:prstGeom prst="rect">
            <a:avLst/>
          </a:prstGeom>
        </p:spPr>
      </p:pic>
      <p:sp>
        <p:nvSpPr>
          <p:cNvPr id="7" name="Step 1 label"/>
          <p:cNvSpPr txBox="1"/>
          <p:nvPr/>
        </p:nvSpPr>
        <p:spPr>
          <a:xfrm>
            <a:off x="54864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 product</a:t>
            </a:r>
            <a:endParaRPr lang="en-US" sz="1600" dirty="0"/>
          </a:p>
        </p:txBody>
      </p:sp>
      <p:sp>
        <p:nvSpPr>
          <p:cNvPr id="8" name="Step tag 2"/>
          <p:cNvSpPr txBox="1"/>
          <p:nvPr/>
        </p:nvSpPr>
        <p:spPr>
          <a:xfrm>
            <a:off x="228600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STEP 2</a:t>
            </a:r>
            <a:endParaRPr lang="en-US" sz="1200" dirty="0"/>
          </a:p>
        </p:txBody>
      </p:sp>
      <p:sp>
        <p:nvSpPr>
          <p:cNvPr id="9" name="Step 2 icon circle"/>
          <p:cNvSpPr/>
          <p:nvPr/>
        </p:nvSpPr>
        <p:spPr>
          <a:xfrm>
            <a:off x="2514600" y="20116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Step 2 icon" descr="Step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2217420"/>
            <a:ext cx="411480" cy="411480"/>
          </a:xfrm>
          <a:prstGeom prst="rect">
            <a:avLst/>
          </a:prstGeom>
        </p:spPr>
      </p:pic>
      <p:sp>
        <p:nvSpPr>
          <p:cNvPr id="11" name="Step 2 label"/>
          <p:cNvSpPr txBox="1"/>
          <p:nvPr/>
        </p:nvSpPr>
        <p:spPr>
          <a:xfrm>
            <a:off x="219456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Browse store</a:t>
            </a:r>
            <a:endParaRPr lang="en-US" sz="1600" dirty="0"/>
          </a:p>
        </p:txBody>
      </p:sp>
      <p:sp>
        <p:nvSpPr>
          <p:cNvPr id="12" name="Step tag 3"/>
          <p:cNvSpPr txBox="1"/>
          <p:nvPr/>
        </p:nvSpPr>
        <p:spPr>
          <a:xfrm>
            <a:off x="393192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STEP 3</a:t>
            </a:r>
            <a:endParaRPr lang="en-US" sz="1200" dirty="0"/>
          </a:p>
        </p:txBody>
      </p:sp>
      <p:sp>
        <p:nvSpPr>
          <p:cNvPr id="13" name="Step 3 icon circle"/>
          <p:cNvSpPr/>
          <p:nvPr/>
        </p:nvSpPr>
        <p:spPr>
          <a:xfrm>
            <a:off x="4160520" y="201168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4" name="Step 3 icon" descr="Step 3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2217420"/>
            <a:ext cx="411480" cy="411480"/>
          </a:xfrm>
          <a:prstGeom prst="rect">
            <a:avLst/>
          </a:prstGeom>
        </p:spPr>
      </p:pic>
      <p:sp>
        <p:nvSpPr>
          <p:cNvPr id="15" name="Step 3 label"/>
          <p:cNvSpPr txBox="1"/>
          <p:nvPr/>
        </p:nvSpPr>
        <p:spPr>
          <a:xfrm>
            <a:off x="384048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Place demo order</a:t>
            </a:r>
            <a:endParaRPr lang="en-US" sz="1600" dirty="0"/>
          </a:p>
        </p:txBody>
      </p:sp>
      <p:sp>
        <p:nvSpPr>
          <p:cNvPr id="16" name="Step tag 4"/>
          <p:cNvSpPr txBox="1"/>
          <p:nvPr/>
        </p:nvSpPr>
        <p:spPr>
          <a:xfrm>
            <a:off x="557784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STEP 4</a:t>
            </a:r>
            <a:endParaRPr lang="en-US" sz="1200" dirty="0"/>
          </a:p>
        </p:txBody>
      </p:sp>
      <p:sp>
        <p:nvSpPr>
          <p:cNvPr id="17" name="Step 4 icon circle"/>
          <p:cNvSpPr/>
          <p:nvPr/>
        </p:nvSpPr>
        <p:spPr>
          <a:xfrm>
            <a:off x="5806440" y="201168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Step 4 icon" descr="Step 4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80" y="2217420"/>
            <a:ext cx="411480" cy="411480"/>
          </a:xfrm>
          <a:prstGeom prst="rect">
            <a:avLst/>
          </a:prstGeom>
        </p:spPr>
      </p:pic>
      <p:sp>
        <p:nvSpPr>
          <p:cNvPr id="19" name="Step 4 label"/>
          <p:cNvSpPr txBox="1"/>
          <p:nvPr/>
        </p:nvSpPr>
        <p:spPr>
          <a:xfrm>
            <a:off x="548640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Inspect stock / order</a:t>
            </a:r>
            <a:endParaRPr lang="en-US" sz="1600" dirty="0"/>
          </a:p>
        </p:txBody>
      </p:sp>
      <p:sp>
        <p:nvSpPr>
          <p:cNvPr id="20" name="Step tag 5"/>
          <p:cNvSpPr txBox="1"/>
          <p:nvPr/>
        </p:nvSpPr>
        <p:spPr>
          <a:xfrm>
            <a:off x="722376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STEP 5</a:t>
            </a:r>
            <a:endParaRPr lang="en-US" sz="1200" dirty="0"/>
          </a:p>
        </p:txBody>
      </p:sp>
      <p:sp>
        <p:nvSpPr>
          <p:cNvPr id="21" name="Step 5 icon circle"/>
          <p:cNvSpPr/>
          <p:nvPr/>
        </p:nvSpPr>
        <p:spPr>
          <a:xfrm>
            <a:off x="7452360" y="201168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Step 5 icon" descr="Step 5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0" y="2217420"/>
            <a:ext cx="411480" cy="411480"/>
          </a:xfrm>
          <a:prstGeom prst="rect">
            <a:avLst/>
          </a:prstGeom>
        </p:spPr>
      </p:pic>
      <p:sp>
        <p:nvSpPr>
          <p:cNvPr id="23" name="Step 5 label"/>
          <p:cNvSpPr txBox="1"/>
          <p:nvPr/>
        </p:nvSpPr>
        <p:spPr>
          <a:xfrm>
            <a:off x="713232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Change status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Testing and limitations</a:t>
            </a:r>
            <a:endParaRPr lang="en-US" sz="3400" dirty="0"/>
          </a:p>
        </p:txBody>
      </p:sp>
      <p:sp>
        <p:nvSpPr>
          <p:cNvPr id="3" name="Testing card"/>
          <p:cNvSpPr/>
          <p:nvPr/>
        </p:nvSpPr>
        <p:spPr>
          <a:xfrm>
            <a:off x="548640" y="1371600"/>
            <a:ext cx="393192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4" name="Limitations card"/>
          <p:cNvSpPr/>
          <p:nvPr/>
        </p:nvSpPr>
        <p:spPr>
          <a:xfrm>
            <a:off x="4663440" y="1371600"/>
            <a:ext cx="393192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5" name="Testing 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Testing icon" descr="Test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7" name="Testing title"/>
          <p:cNvSpPr txBox="1"/>
          <p:nvPr/>
        </p:nvSpPr>
        <p:spPr>
          <a:xfrm>
            <a:off x="146304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Testing</a:t>
            </a:r>
            <a:endParaRPr lang="en-US" sz="2200" dirty="0"/>
          </a:p>
        </p:txBody>
      </p:sp>
      <p:sp>
        <p:nvSpPr>
          <p:cNvPr id="8" name="Testing list"/>
          <p:cNvSpPr txBox="1"/>
          <p:nvPr/>
        </p:nvSpPr>
        <p:spPr>
          <a:xfrm>
            <a:off x="914400" y="25146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Run mvn test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Manual scenarios</a:t>
            </a:r>
            <a:endParaRPr lang="en-US" sz="1800" dirty="0"/>
          </a:p>
        </p:txBody>
      </p:sp>
      <p:sp>
        <p:nvSpPr>
          <p:cNvPr id="9" name="Limitations icon circle"/>
          <p:cNvSpPr/>
          <p:nvPr/>
        </p:nvSpPr>
        <p:spPr>
          <a:xfrm>
            <a:off x="489204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Limitations icon" descr="Limitation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37360"/>
            <a:ext cx="274320" cy="274320"/>
          </a:xfrm>
          <a:prstGeom prst="rect">
            <a:avLst/>
          </a:prstGeom>
        </p:spPr>
      </p:pic>
      <p:sp>
        <p:nvSpPr>
          <p:cNvPr id="11" name="Limitations title"/>
          <p:cNvSpPr txBox="1"/>
          <p:nvPr/>
        </p:nvSpPr>
        <p:spPr>
          <a:xfrm>
            <a:off x="557784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Limitations</a:t>
            </a:r>
            <a:endParaRPr lang="en-US" sz="2200" dirty="0"/>
          </a:p>
        </p:txBody>
      </p:sp>
      <p:sp>
        <p:nvSpPr>
          <p:cNvPr id="12" name="Limitations list"/>
          <p:cNvSpPr txBox="1"/>
          <p:nvPr/>
        </p:nvSpPr>
        <p:spPr>
          <a:xfrm>
            <a:off x="5029200" y="25146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No real payments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No authentication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No customer account system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Future improvements</a:t>
            </a:r>
            <a:endParaRPr lang="en-US" sz="3400" dirty="0"/>
          </a:p>
        </p:txBody>
      </p:sp>
      <p:sp>
        <p:nvSpPr>
          <p:cNvPr id="3" name="Improvement card 1"/>
          <p:cNvSpPr/>
          <p:nvPr/>
        </p:nvSpPr>
        <p:spPr>
          <a:xfrm>
            <a:off x="548640" y="1417320"/>
            <a:ext cx="1463040" cy="246888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4" name="Authentication icon circle"/>
          <p:cNvSpPr/>
          <p:nvPr/>
        </p:nvSpPr>
        <p:spPr>
          <a:xfrm>
            <a:off x="91440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uthentication icon" descr="Authenticati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20240"/>
            <a:ext cx="365760" cy="365760"/>
          </a:xfrm>
          <a:prstGeom prst="rect">
            <a:avLst/>
          </a:prstGeom>
        </p:spPr>
      </p:pic>
      <p:sp>
        <p:nvSpPr>
          <p:cNvPr id="6" name="Authentication label"/>
          <p:cNvSpPr txBox="1"/>
          <p:nvPr/>
        </p:nvSpPr>
        <p:spPr>
          <a:xfrm>
            <a:off x="640080" y="2743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Authentication</a:t>
            </a:r>
            <a:endParaRPr lang="en-US" sz="1400" dirty="0"/>
          </a:p>
        </p:txBody>
      </p:sp>
      <p:sp>
        <p:nvSpPr>
          <p:cNvPr id="7" name="Improvement card 2"/>
          <p:cNvSpPr/>
          <p:nvPr/>
        </p:nvSpPr>
        <p:spPr>
          <a:xfrm>
            <a:off x="2194560" y="1417320"/>
            <a:ext cx="1463040" cy="246888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8" name="Cart icon circle"/>
          <p:cNvSpPr/>
          <p:nvPr/>
        </p:nvSpPr>
        <p:spPr>
          <a:xfrm>
            <a:off x="2560320" y="17373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Cart icon" descr="Car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920240"/>
            <a:ext cx="365760" cy="365760"/>
          </a:xfrm>
          <a:prstGeom prst="rect">
            <a:avLst/>
          </a:prstGeom>
        </p:spPr>
      </p:pic>
      <p:sp>
        <p:nvSpPr>
          <p:cNvPr id="10" name="Cart label"/>
          <p:cNvSpPr txBox="1"/>
          <p:nvPr/>
        </p:nvSpPr>
        <p:spPr>
          <a:xfrm>
            <a:off x="2286000" y="2743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Cart</a:t>
            </a:r>
            <a:endParaRPr lang="en-US" sz="1400" dirty="0"/>
          </a:p>
        </p:txBody>
      </p:sp>
      <p:sp>
        <p:nvSpPr>
          <p:cNvPr id="11" name="Improvement card 3"/>
          <p:cNvSpPr/>
          <p:nvPr/>
        </p:nvSpPr>
        <p:spPr>
          <a:xfrm>
            <a:off x="3840480" y="1417320"/>
            <a:ext cx="1463040" cy="246888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12" name="Email notifications icon circle"/>
          <p:cNvSpPr/>
          <p:nvPr/>
        </p:nvSpPr>
        <p:spPr>
          <a:xfrm>
            <a:off x="4206240" y="173736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Email notifications icon" descr="Email notification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920240"/>
            <a:ext cx="365760" cy="365760"/>
          </a:xfrm>
          <a:prstGeom prst="rect">
            <a:avLst/>
          </a:prstGeom>
        </p:spPr>
      </p:pic>
      <p:sp>
        <p:nvSpPr>
          <p:cNvPr id="14" name="Email notifications label"/>
          <p:cNvSpPr txBox="1"/>
          <p:nvPr/>
        </p:nvSpPr>
        <p:spPr>
          <a:xfrm>
            <a:off x="3931920" y="2743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Email notifications</a:t>
            </a:r>
            <a:endParaRPr lang="en-US" sz="1400" dirty="0"/>
          </a:p>
        </p:txBody>
      </p:sp>
      <p:sp>
        <p:nvSpPr>
          <p:cNvPr id="15" name="Improvement card 4"/>
          <p:cNvSpPr/>
          <p:nvPr/>
        </p:nvSpPr>
        <p:spPr>
          <a:xfrm>
            <a:off x="5486400" y="1417320"/>
            <a:ext cx="1463040" cy="246888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16" name="Concurrent stock safety icon circle"/>
          <p:cNvSpPr/>
          <p:nvPr/>
        </p:nvSpPr>
        <p:spPr>
          <a:xfrm>
            <a:off x="5852160" y="173736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Concurrent stock safety icon" descr="Concurrent stock safety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920240"/>
            <a:ext cx="365760" cy="365760"/>
          </a:xfrm>
          <a:prstGeom prst="rect">
            <a:avLst/>
          </a:prstGeom>
        </p:spPr>
      </p:pic>
      <p:sp>
        <p:nvSpPr>
          <p:cNvPr id="18" name="Concurrent stock safety label"/>
          <p:cNvSpPr txBox="1"/>
          <p:nvPr/>
        </p:nvSpPr>
        <p:spPr>
          <a:xfrm>
            <a:off x="5577840" y="2743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Concurrent stock safety</a:t>
            </a:r>
            <a:endParaRPr lang="en-US" sz="1400" dirty="0"/>
          </a:p>
        </p:txBody>
      </p:sp>
      <p:sp>
        <p:nvSpPr>
          <p:cNvPr id="19" name="Improvement card 5"/>
          <p:cNvSpPr/>
          <p:nvPr/>
        </p:nvSpPr>
        <p:spPr>
          <a:xfrm>
            <a:off x="7132320" y="1417320"/>
            <a:ext cx="1463040" cy="246888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B1F3B">
                <a:alpha val="12000"/>
              </a:srgbClr>
            </a:outerShdw>
          </a:effectLst>
        </p:spPr>
      </p:sp>
      <p:sp>
        <p:nvSpPr>
          <p:cNvPr id="20" name="Stronger tests icon circle"/>
          <p:cNvSpPr/>
          <p:nvPr/>
        </p:nvSpPr>
        <p:spPr>
          <a:xfrm>
            <a:off x="7498080" y="17373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Stronger tests icon" descr="Stronger test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920240"/>
            <a:ext cx="365760" cy="365760"/>
          </a:xfrm>
          <a:prstGeom prst="rect">
            <a:avLst/>
          </a:prstGeom>
        </p:spPr>
      </p:pic>
      <p:sp>
        <p:nvSpPr>
          <p:cNvPr id="22" name="Stronger tests label"/>
          <p:cNvSpPr txBox="1"/>
          <p:nvPr/>
        </p:nvSpPr>
        <p:spPr>
          <a:xfrm>
            <a:off x="7223760" y="2743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Stronger tests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2801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6600" dirty="0"/>
          </a:p>
        </p:txBody>
      </p:sp>
      <p:sp>
        <p:nvSpPr>
          <p:cNvPr id="3" name="Thanks"/>
          <p:cNvSpPr txBox="1"/>
          <p:nvPr/>
        </p:nvSpPr>
        <p:spPr>
          <a:xfrm>
            <a:off x="548640" y="2697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Thank you.</a:t>
            </a:r>
            <a:endParaRPr lang="en-US" sz="2400" dirty="0"/>
          </a:p>
        </p:txBody>
      </p:sp>
      <p:sp>
        <p:nvSpPr>
          <p:cNvPr id="4" name="Closing line"/>
          <p:cNvSpPr txBox="1"/>
          <p:nvPr/>
        </p:nvSpPr>
        <p:spPr>
          <a:xfrm>
            <a:off x="548640" y="32461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Ready to demonstrate the implementation and explain the code.</a:t>
            </a:r>
            <a:endParaRPr lang="en-US" sz="1800" dirty="0"/>
          </a:p>
        </p:txBody>
      </p:sp>
      <p:sp>
        <p:nvSpPr>
          <p:cNvPr id="5" name="Closing disc"/>
          <p:cNvSpPr/>
          <p:nvPr/>
        </p:nvSpPr>
        <p:spPr>
          <a:xfrm>
            <a:off x="5669280" y="1005840"/>
            <a:ext cx="2651760" cy="26517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Closing icon" descr="Cod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91640"/>
            <a:ext cx="128016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refront Ink">
  <a:themeElements>
    <a:clrScheme name="Storefront Ink">
      <a:dk1>
        <a:srgbClr val="1B1F3B"/>
      </a:dk1>
      <a:lt1>
        <a:srgbClr val="FFFFFF"/>
      </a:lt1>
      <a:dk2>
        <a:srgbClr val="2B3A67"/>
      </a:dk2>
      <a:lt2>
        <a:srgbClr val="F1F4FA"/>
      </a:lt2>
      <a:accent1>
        <a:srgbClr val="FF6B5B"/>
      </a:accent1>
      <a:accent2>
        <a:srgbClr val="2EC4B6"/>
      </a:accent2>
      <a:accent3>
        <a:srgbClr val="FFB703"/>
      </a:accent3>
      <a:accent4>
        <a:srgbClr val="5B7DB1"/>
      </a:accent4>
      <a:accent5>
        <a:srgbClr val="8D99AE"/>
      </a:accent5>
      <a:accent6>
        <a:srgbClr val="7C5CFF"/>
      </a:accent6>
      <a:hlink>
        <a:srgbClr val="2B3A67"/>
      </a:hlink>
      <a:folHlink>
        <a:srgbClr val="8D99AE"/>
      </a:folHlink>
    </a:clrScheme>
    <a:fontScheme name="Storefront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Web-based E-Shopping Store</dc:title>
  <dc:subject>PptxGenJS Presentation</dc:subject>
  <dc:creator>WEB3G2-32</dc:creator>
  <cp:lastModifiedBy>WEB3G2-32</cp:lastModifiedBy>
  <cp:revision>1</cp:revision>
  <dcterms:created xsi:type="dcterms:W3CDTF">2026-10-17T05:43:37Z</dcterms:created>
  <dcterms:modified xsi:type="dcterms:W3CDTF">2026-10-17T05:43:37Z</dcterms:modified>
</cp:coreProperties>
</file>